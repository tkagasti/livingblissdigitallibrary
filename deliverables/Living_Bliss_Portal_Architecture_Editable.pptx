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086de7b6c74a00" /><Relationship Type="http://schemas.openxmlformats.org/officeDocument/2006/relationships/extended-properties" Target="/docProps/app.xml" Id="R5bdd66412af849f5" /><Relationship Type="http://schemas.openxmlformats.org/officeDocument/2006/relationships/officeDocument" Target="/ppt/presentation.xml" Id="Rc1a7a5ad626d4c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966c39aedf42d1"/>
  </p:sldMasterIdLst>
  <p:notesMasterIdLst>
    <p:notesMasterId xmlns:r="http://schemas.openxmlformats.org/officeDocument/2006/relationships" r:id="R70514eeee2c843f3"/>
  </p:notesMasterIdLst>
  <p:sldIdLst>
    <p:sldId xmlns:r="http://schemas.openxmlformats.org/officeDocument/2006/relationships" id="256" r:id="R4bdb5d60b1f5415b"/>
    <p:sldId xmlns:r="http://schemas.openxmlformats.org/officeDocument/2006/relationships" id="257" r:id="Rd4b7a5d9d1e842de"/>
    <p:sldId xmlns:r="http://schemas.openxmlformats.org/officeDocument/2006/relationships" id="258" r:id="R04c2ee4e8b464f1d"/>
    <p:sldId xmlns:r="http://schemas.openxmlformats.org/officeDocument/2006/relationships" id="259" r:id="Rb54f5f2fd49a44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7627f5178d4fb6" /><Relationship Type="http://schemas.openxmlformats.org/officeDocument/2006/relationships/slideMaster" Target="/ppt/slideMasters/slideMaster1.xml" Id="Rb7966c39aedf42d1" /><Relationship Type="http://schemas.openxmlformats.org/officeDocument/2006/relationships/notesMaster" Target="/ppt/notesMasters/notesMaster1.xml" Id="R70514eeee2c843f3" /><Relationship Type="http://schemas.openxmlformats.org/officeDocument/2006/relationships/presProps" Target="/ppt/presProps.xml" Id="R65476853823a4063" /><Relationship Type="http://schemas.openxmlformats.org/officeDocument/2006/relationships/tableStyles" Target="/ppt/tableStyles.xml" Id="R8e4a02b1b1a64225" /><Relationship Type="http://schemas.openxmlformats.org/officeDocument/2006/relationships/slide" Target="/ppt/slides/slide1.xml" Id="R4bdb5d60b1f5415b" /><Relationship Type="http://schemas.openxmlformats.org/officeDocument/2006/relationships/slide" Target="/ppt/slides/slide2.xml" Id="Rd4b7a5d9d1e842de" /><Relationship Type="http://schemas.openxmlformats.org/officeDocument/2006/relationships/slide" Target="/ppt/slides/slide3.xml" Id="R04c2ee4e8b464f1d" /><Relationship Type="http://schemas.openxmlformats.org/officeDocument/2006/relationships/slide" Target="/ppt/slides/slide4.xml" Id="Rb54f5f2fd49a44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1932dadb0e43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b505c8d4004244" /><Relationship Type="http://schemas.openxmlformats.org/officeDocument/2006/relationships/notesMaster" Target="/ppt/notesMasters/notesMaster1.xml" Id="R9f0a20d6398645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9c00aa78604fd1" /><Relationship Type="http://schemas.openxmlformats.org/officeDocument/2006/relationships/notesMaster" Target="/ppt/notesMasters/notesMaster1.xml" Id="R7a790ff69ba848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56b58e7c7b48f1" /><Relationship Type="http://schemas.openxmlformats.org/officeDocument/2006/relationships/notesMaster" Target="/ppt/notesMasters/notesMaster1.xml" Id="Rd5bd74e6f7f942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6ca212e9ed4a04" /><Relationship Type="http://schemas.openxmlformats.org/officeDocument/2006/relationships/notesMaster" Target="/ppt/notesMasters/notesMaster1.xml" Id="Rb01755af069e48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Living_Bliss_Bhagavad_Gita_Product_Design_Blueprint.docx (Living Bliss internal product baseline)</a:t>
            </a:r>
          </a:p>
          <a:p xmlns:a="http://schemas.openxmlformats.org/drawingml/2006/main">
            <a:r>
              <a:t>- Living_Bliss_UI_Wireframes_Technical_Design_Professional.docx (Living Bliss internal interface and technical baseline)</a:t>
            </a:r>
          </a:p>
          <a:p xmlns:a="http://schemas.openxmlformats.org/drawingml/2006/main">
            <a:r>
              <a:t>- AI_READINESS.md (current implementation boundary)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Living_Bliss_Bhagavad_Gita_Product_Design_Blueprint.docx (Living Bliss internal product baseline)</a:t>
            </a:r>
          </a:p>
          <a:p xmlns:a="http://schemas.openxmlformats.org/drawingml/2006/main">
            <a:r>
              <a:t>- Living_Bliss_UI_Wireframes_Technical_Design_Professional.docx (Living Bliss internal interface and technical baseline)</a:t>
            </a:r>
          </a:p>
          <a:p xmlns:a="http://schemas.openxmlformats.org/drawingml/2006/main">
            <a:r>
              <a:t>- AI_READINESS.md (current implementation boundary)</a:t>
            </a:r>
          </a:p>
          <a:p xmlns:a="http://schemas.openxmlformats.org/drawingml/2006/main">
            <a:r>
              <a:t>- The diagram summarises the target layered architecture and context envelope.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Living_Bliss_Bhagavad_Gita_Product_Design_Blueprint.docx (Living Bliss internal product baseline)</a:t>
            </a:r>
          </a:p>
          <a:p xmlns:a="http://schemas.openxmlformats.org/drawingml/2006/main">
            <a:r>
              <a:t>- Living_Bliss_UI_Wireframes_Technical_Design_Professional.docx (Living Bliss internal interface and technical baseline)</a:t>
            </a:r>
          </a:p>
          <a:p xmlns:a="http://schemas.openxmlformats.org/drawingml/2006/main">
            <a:r>
              <a:t>- AI_READINESS.md (current implementation boundary)</a:t>
            </a:r>
          </a:p>
          <a:p xmlns:a="http://schemas.openxmlformats.org/drawingml/2006/main">
            <a:r>
              <a:t>- Platform domain separation follows the modular-monolith recommendation.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Living_Bliss_Bhagavad_Gita_Product_Design_Blueprint.docx (Living Bliss internal product baseline)</a:t>
            </a:r>
          </a:p>
          <a:p xmlns:a="http://schemas.openxmlformats.org/drawingml/2006/main">
            <a:r>
              <a:t>- Living_Bliss_UI_Wireframes_Technical_Design_Professional.docx (Living Bliss internal interface and technical baseline)</a:t>
            </a:r>
          </a:p>
          <a:p xmlns:a="http://schemas.openxmlformats.org/drawingml/2006/main">
            <a:r>
              <a:t>- AI_READINESS.md (current implementation boundary)</a:t>
            </a:r>
          </a:p>
          <a:p xmlns:a="http://schemas.openxmlformats.org/drawingml/2006/main">
            <a:r>
              <a:t>- AI flow reflects the retrieval-only implementation and future provider boundary.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16ed03e9534a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be457403e24829" /><Relationship Type="http://schemas.openxmlformats.org/officeDocument/2006/relationships/slideLayout" Target="/ppt/slideLayouts/slideLayout1.xml" Id="R7c91a61b2de64a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91a61b2de64a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7ae0d2baa460d" /><Relationship Type="http://schemas.openxmlformats.org/officeDocument/2006/relationships/image" Target="/ppt/media/image.png" Id="R9c3350c150f24a09" /><Relationship Type="http://schemas.openxmlformats.org/officeDocument/2006/relationships/notesSlide" Target="/ppt/notesSlides/notesSlide1.xml" Id="R914db495762b4f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ea156438645d7" /><Relationship Type="http://schemas.openxmlformats.org/officeDocument/2006/relationships/notesSlide" Target="/ppt/notesSlides/notesSlide2.xml" Id="R0fef7d7805be49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e0bdb1b594ffb" /><Relationship Type="http://schemas.openxmlformats.org/officeDocument/2006/relationships/notesSlide" Target="/ppt/notesSlides/notesSlide3.xml" Id="R9787f03a13b44a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3f581502a41b0" /><Relationship Type="http://schemas.openxmlformats.org/officeDocument/2006/relationships/notesSlide" Target="/ppt/notesSlides/notesSlide4.xml" Id="Rbdc21cfc61f748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350c150f24a09"/>
          <a:stretch xmlns:a="http://schemas.openxmlformats.org/drawingml/2006/main"/>
        </p:blipFill>
        <p:spPr>
          <a:xfrm xmlns:a="http://schemas.openxmlformats.org/drawingml/2006/main">
            <a:off x="690563" y="514350"/>
            <a:ext cx="1800225" cy="800100"/>
          </a:xfrm>
          <a:prstGeom xmlns:a="http://schemas.openxmlformats.org/drawingml/2006/main" prst="rect">
            <a:avLst/>
          </a:prstGeom>
        </p:spPr>
      </p:pic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11F9170-F656-475E-86B3-81855300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95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32E"/>
          </a:solidFill>
          <a:ln xmlns:a="http://schemas.openxmlformats.org/drawingml/2006/main" w="0">
            <a:solidFill>
              <a:srgbClr val="D9832E"/>
            </a:solidFill>
            <a:prstDash val="solid"/>
          </a:ln>
        </p:spPr>
      </p:sp>
      <p:sp>
        <p:nvSpPr>
          <p:cNvPr id="3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CA22397F-5D5F-4B4E-BEDF-E9205C0B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832E"/>
                </a:solidFill>
              </a:defRPr>
            </a:pPr>
            <a:r>
              <a:rPr sz="1200" b="1">
                <a:solidFill>
                  <a:srgbClr val="D9832E"/>
                </a:solidFill>
              </a:rPr>
              <a:t>VENDOR-READY REFERENCE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F9C30201-3B88-4A31-9E69-F6979841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264F"/>
                </a:solidFill>
              </a:defRPr>
            </a:pPr>
            <a:r>
              <a:rPr sz="4050" b="1">
                <a:solidFill>
                  <a:srgbClr val="18264F"/>
                </a:solidFill>
              </a:rPr>
              <a:t>Digital Learning Portal</a:t>
            </a:r>
          </a:p>
          <a:p xmlns:a="http://schemas.openxmlformats.org/drawingml/2006/main">
            <a:pPr algn="l">
              <a:defRPr sz="4050" b="1">
                <a:solidFill>
                  <a:srgbClr val="18264F"/>
                </a:solidFill>
              </a:defRPr>
            </a:pPr>
            <a:r>
              <a:rPr sz="4050" b="1">
                <a:solidFill>
                  <a:srgbClr val="18264F"/>
                </a:solidFill>
              </a:rPr>
              <a:t>Architecture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01968F1-4AEC-488F-87F6-F4EAD2F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D7282"/>
                </a:solidFill>
              </a:defRPr>
            </a:pPr>
            <a:r>
              <a:rPr sz="1725" b="0">
                <a:solidFill>
                  <a:srgbClr val="6D7282"/>
                </a:solidFill>
              </a:rPr>
              <a:t>Multi-tenant · edition-aware · mobile-ready · AI-governed</a:t>
            </a:r>
          </a:p>
        </p:txBody>
      </p:sp>
      <p:sp>
        <p:nvSpPr>
          <p:cNvPr id="6" name="deck-meta">
            <a:extLst xmlns:a="http://schemas.openxmlformats.org/drawingml/2006/main">
              <a:ext uri="{FF2B5EF4-FFF2-40B4-BE49-F238E27FC236}">
                <a16:creationId xmlns:a16="http://schemas.microsoft.com/office/drawing/2014/main" id="{3CD93CDA-987F-415D-9FDA-B9ECE0DC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43B78"/>
                </a:solidFill>
              </a:defRPr>
            </a:pPr>
            <a:r>
              <a:rPr sz="1200" b="0">
                <a:solidFill>
                  <a:srgbClr val="243B78"/>
                </a:solidFill>
              </a:rPr>
              <a:t>Editable architecture pack  |  Version 1.0  |  September 2026</a:t>
            </a:r>
          </a:p>
        </p:txBody>
      </p:sp>
      <p:sp>
        <p:nvSpPr>
          <p:cNvPr id="7" name="deck-use">
            <a:extLst xmlns:a="http://schemas.openxmlformats.org/drawingml/2006/main">
              <a:ext uri="{FF2B5EF4-FFF2-40B4-BE49-F238E27FC236}">
                <a16:creationId xmlns:a16="http://schemas.microsoft.com/office/drawing/2014/main" id="{68383125-F4A9-41B8-9732-A41CC6AA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805B"/>
                </a:solidFill>
              </a:defRPr>
            </a:pPr>
            <a:r>
              <a:rPr sz="1200" b="1">
                <a:solidFill>
                  <a:srgbClr val="34805B"/>
                </a:solidFill>
              </a:rPr>
              <a:t>Native PowerPoint shapes and connectors</a:t>
            </a:r>
          </a:p>
        </p:txBody>
      </p:sp>
      <p:sp>
        <p:nvSpPr>
          <p:cNvPr id="8" name="motif-tenant">
            <a:extLst xmlns:a="http://schemas.openxmlformats.org/drawingml/2006/main">
              <a:ext uri="{FF2B5EF4-FFF2-40B4-BE49-F238E27FC236}">
                <a16:creationId xmlns:a16="http://schemas.microsoft.com/office/drawing/2014/main" id="{6CFFF855-67DB-476A-9F96-9AAFF8D5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64F"/>
                </a:solidFill>
              </a:defRPr>
            </a:pPr>
            <a:r>
              <a:rPr sz="1350" b="1">
                <a:solidFill>
                  <a:srgbClr val="18264F"/>
                </a:solidFill>
              </a:rPr>
              <a:t>TENANT</a:t>
            </a:r>
          </a:p>
        </p:txBody>
      </p:sp>
      <p:sp>
        <p:nvSpPr>
          <p:cNvPr id="9" name="motif-edition">
            <a:extLst xmlns:a="http://schemas.openxmlformats.org/drawingml/2006/main">
              <a:ext uri="{FF2B5EF4-FFF2-40B4-BE49-F238E27FC236}">
                <a16:creationId xmlns:a16="http://schemas.microsoft.com/office/drawing/2014/main" id="{82A676CC-C217-4618-96AB-EA6A8261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90900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83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64F"/>
                </a:solidFill>
              </a:defRPr>
            </a:pPr>
            <a:r>
              <a:rPr sz="1350" b="1">
                <a:solidFill>
                  <a:srgbClr val="18264F"/>
                </a:solidFill>
              </a:rPr>
              <a:t>EDITION</a:t>
            </a:r>
          </a:p>
        </p:txBody>
      </p:sp>
      <p:sp>
        <p:nvSpPr>
          <p:cNvPr id="10" name="motif-learning">
            <a:extLst xmlns:a="http://schemas.openxmlformats.org/drawingml/2006/main">
              <a:ext uri="{FF2B5EF4-FFF2-40B4-BE49-F238E27FC236}">
                <a16:creationId xmlns:a16="http://schemas.microsoft.com/office/drawing/2014/main" id="{492F44B3-22E0-47BC-8354-B8BA42D8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38650"/>
            <a:ext cx="1619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8F2EB"/>
          </a:solidFill>
          <a:ln xmlns:a="http://schemas.openxmlformats.org/drawingml/2006/main" w="9525">
            <a:solidFill>
              <a:srgbClr val="3480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64F"/>
                </a:solidFill>
              </a:defRPr>
            </a:pPr>
            <a:r>
              <a:rPr sz="1350" b="1">
                <a:solidFill>
                  <a:srgbClr val="18264F"/>
                </a:solidFill>
              </a:rPr>
              <a:t>LEARNING</a:t>
            </a:r>
          </a:p>
        </p:txBody>
      </p:sp>
      <p:cxnSp>
        <p:nvCxnSpPr>
          <p:cNvPr id="23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782175" y="3067050"/>
            <a:ext cx="62865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9153525" y="4114800"/>
            <a:ext cx="12573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05719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eyebrow-2">
            <a:extLst xmlns:a="http://schemas.openxmlformats.org/drawingml/2006/main">
              <a:ext uri="{FF2B5EF4-FFF2-40B4-BE49-F238E27FC236}">
                <a16:creationId xmlns:a16="http://schemas.microsoft.com/office/drawing/2014/main" id="{1C1B7A42-43E7-4F01-903F-4D008CC3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832E"/>
                </a:solidFill>
              </a:defRPr>
            </a:pPr>
            <a:r>
              <a:rPr sz="975" b="1">
                <a:solidFill>
                  <a:srgbClr val="D9832E"/>
                </a:solidFill>
              </a:rPr>
              <a:t>TARGET ARCHITECTURE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573B61A-55AC-44D3-89AF-8C0EC9FC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64F"/>
                </a:solidFill>
              </a:defRPr>
            </a:pPr>
            <a:r>
              <a:rPr sz="2625" b="1">
                <a:solidFill>
                  <a:srgbClr val="18264F"/>
                </a:solidFill>
              </a:rPr>
              <a:t>One trusted context governs every channel and capability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E4A5040F-DCAD-4EC2-8640-C1184281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7282"/>
                </a:solidFill>
              </a:defRPr>
            </a:pPr>
            <a:r>
              <a:rPr sz="975" b="1">
                <a:solidFill>
                  <a:srgbClr val="6D7282"/>
                </a:solidFill>
              </a:rPr>
              <a:t>02</a:t>
            </a:r>
          </a:p>
        </p:txBody>
      </p:sp>
      <p:sp>
        <p:nvSpPr>
          <p:cNvPr id="4" name="channels-number">
            <a:extLst xmlns:a="http://schemas.openxmlformats.org/drawingml/2006/main">
              <a:ext uri="{FF2B5EF4-FFF2-40B4-BE49-F238E27FC236}">
                <a16:creationId xmlns:a16="http://schemas.microsoft.com/office/drawing/2014/main" id="{A3983199-885A-4B53-86B7-E34ED9F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9832E"/>
                </a:solidFill>
              </a:defRPr>
            </a:pPr>
            <a:r>
              <a:rPr sz="1500" b="1">
                <a:solidFill>
                  <a:srgbClr val="D9832E"/>
                </a:solidFill>
              </a:rPr>
              <a:t>01</a:t>
            </a:r>
          </a:p>
        </p:txBody>
      </p:sp>
      <p:sp>
        <p:nvSpPr>
          <p:cNvPr id="5" name="channels-title">
            <a:extLst xmlns:a="http://schemas.openxmlformats.org/drawingml/2006/main">
              <a:ext uri="{FF2B5EF4-FFF2-40B4-BE49-F238E27FC236}">
                <a16:creationId xmlns:a16="http://schemas.microsoft.com/office/drawing/2014/main" id="{280BD852-1149-420B-9FD0-0FBF8083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Users and</a:t>
            </a:r>
          </a:p>
          <a:p xmlns:a="http://schemas.openxmlformats.org/drawingml/2006/main">
            <a:pPr algn="l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channels</a:t>
            </a:r>
          </a:p>
        </p:txBody>
      </p:sp>
      <p:sp>
        <p:nvSpPr>
          <p:cNvPr id="6" name="channels-rule">
            <a:extLst xmlns:a="http://schemas.openxmlformats.org/drawingml/2006/main">
              <a:ext uri="{FF2B5EF4-FFF2-40B4-BE49-F238E27FC236}">
                <a16:creationId xmlns:a16="http://schemas.microsoft.com/office/drawing/2014/main" id="{3336F49C-1039-4C52-AD11-0F0FF4E3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029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3C1"/>
            </a:solidFill>
            <a:prstDash val="solid"/>
          </a:ln>
        </p:spPr>
      </p:sp>
      <p:sp>
        <p:nvSpPr>
          <p:cNvPr id="7" name="channel-0">
            <a:extLst xmlns:a="http://schemas.openxmlformats.org/drawingml/2006/main">
              <a:ext uri="{FF2B5EF4-FFF2-40B4-BE49-F238E27FC236}">
                <a16:creationId xmlns:a16="http://schemas.microsoft.com/office/drawing/2014/main" id="{7CBFADF1-713C-4AF9-AAD0-0F1E1403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066800"/>
            <a:ext cx="20478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Responsive web / PWA</a:t>
            </a:r>
          </a:p>
        </p:txBody>
      </p:sp>
      <p:sp>
        <p:nvSpPr>
          <p:cNvPr id="8" name="channel-1">
            <a:extLst xmlns:a="http://schemas.openxmlformats.org/drawingml/2006/main">
              <a:ext uri="{FF2B5EF4-FFF2-40B4-BE49-F238E27FC236}">
                <a16:creationId xmlns:a16="http://schemas.microsoft.com/office/drawing/2014/main" id="{0F0E7A4B-722A-442F-9303-B76C26FF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066800"/>
            <a:ext cx="20478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iOS and Android</a:t>
            </a:r>
          </a:p>
        </p:txBody>
      </p:sp>
      <p:sp>
        <p:nvSpPr>
          <p:cNvPr id="9" name="channel-2">
            <a:extLst xmlns:a="http://schemas.openxmlformats.org/drawingml/2006/main">
              <a:ext uri="{FF2B5EF4-FFF2-40B4-BE49-F238E27FC236}">
                <a16:creationId xmlns:a16="http://schemas.microsoft.com/office/drawing/2014/main" id="{11121963-386F-4F35-8393-ACB91DF7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66800"/>
            <a:ext cx="20478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Role workspaces</a:t>
            </a:r>
          </a:p>
        </p:txBody>
      </p:sp>
      <p:sp>
        <p:nvSpPr>
          <p:cNvPr id="10" name="channel-3">
            <a:extLst xmlns:a="http://schemas.openxmlformats.org/drawingml/2006/main">
              <a:ext uri="{FF2B5EF4-FFF2-40B4-BE49-F238E27FC236}">
                <a16:creationId xmlns:a16="http://schemas.microsoft.com/office/drawing/2014/main" id="{DB14DFD7-8765-4AA7-9B5E-147F196A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066800"/>
            <a:ext cx="20478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Schools and partners</a:t>
            </a:r>
          </a:p>
        </p:txBody>
      </p:sp>
      <p:sp>
        <p:nvSpPr>
          <p:cNvPr id="11" name="context-number">
            <a:extLst xmlns:a="http://schemas.openxmlformats.org/drawingml/2006/main">
              <a:ext uri="{FF2B5EF4-FFF2-40B4-BE49-F238E27FC236}">
                <a16:creationId xmlns:a16="http://schemas.microsoft.com/office/drawing/2014/main" id="{E2D0FA03-9B3F-4076-B419-5C56C77E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8C3B"/>
                </a:solidFill>
              </a:defRPr>
            </a:pPr>
            <a:r>
              <a:rPr sz="1500" b="1">
                <a:solidFill>
                  <a:srgbClr val="B68C3B"/>
                </a:solidFill>
              </a:rPr>
              <a:t>02</a:t>
            </a:r>
          </a:p>
        </p:txBody>
      </p:sp>
      <p:sp>
        <p:nvSpPr>
          <p:cNvPr id="12" name="context-title">
            <a:extLst xmlns:a="http://schemas.openxmlformats.org/drawingml/2006/main">
              <a:ext uri="{FF2B5EF4-FFF2-40B4-BE49-F238E27FC236}">
                <a16:creationId xmlns:a16="http://schemas.microsoft.com/office/drawing/2014/main" id="{AC136AD2-F918-4676-B8D9-71F18957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Edge and</a:t>
            </a:r>
          </a:p>
          <a:p xmlns:a="http://schemas.openxmlformats.org/drawingml/2006/main">
            <a:pPr algn="l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context</a:t>
            </a:r>
          </a:p>
        </p:txBody>
      </p:sp>
      <p:sp>
        <p:nvSpPr>
          <p:cNvPr id="13" name="context-rule">
            <a:extLst xmlns:a="http://schemas.openxmlformats.org/drawingml/2006/main">
              <a:ext uri="{FF2B5EF4-FFF2-40B4-BE49-F238E27FC236}">
                <a16:creationId xmlns:a16="http://schemas.microsoft.com/office/drawing/2014/main" id="{AFDC63FE-F9AC-4A42-9D9C-F87CB3BD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029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3C1"/>
            </a:solidFill>
            <a:prstDash val="solid"/>
          </a:ln>
        </p:spPr>
      </p:sp>
      <p:sp>
        <p:nvSpPr>
          <p:cNvPr id="14" name="edge-node">
            <a:extLst xmlns:a="http://schemas.openxmlformats.org/drawingml/2006/main">
              <a:ext uri="{FF2B5EF4-FFF2-40B4-BE49-F238E27FC236}">
                <a16:creationId xmlns:a16="http://schemas.microsoft.com/office/drawing/2014/main" id="{E01097B6-7DAC-446C-A7CD-C1058E05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2667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B68C3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CDN · WAF · DDoS · TLS · rate limits</a:t>
            </a:r>
          </a:p>
        </p:txBody>
      </p:sp>
      <p:sp>
        <p:nvSpPr>
          <p:cNvPr id="15" name="bff-node">
            <a:extLst xmlns:a="http://schemas.openxmlformats.org/drawingml/2006/main">
              <a:ext uri="{FF2B5EF4-FFF2-40B4-BE49-F238E27FC236}">
                <a16:creationId xmlns:a16="http://schemas.microsoft.com/office/drawing/2014/main" id="{C0565252-BF64-4EC7-8566-DE93DF3D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2000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8264F"/>
          </a:solidFill>
          <a:ln xmlns:a="http://schemas.openxmlformats.org/drawingml/2006/main" w="9525">
            <a:solidFill>
              <a:srgbClr val="1826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API gateway / BFF</a:t>
            </a:r>
          </a:p>
        </p:txBody>
      </p:sp>
      <p:sp>
        <p:nvSpPr>
          <p:cNvPr id="16" name="context-node">
            <a:extLst xmlns:a="http://schemas.openxmlformats.org/drawingml/2006/main">
              <a:ext uri="{FF2B5EF4-FFF2-40B4-BE49-F238E27FC236}">
                <a16:creationId xmlns:a16="http://schemas.microsoft.com/office/drawing/2014/main" id="{8A73E144-9266-4C49-A6B0-06BB6697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71650"/>
            <a:ext cx="3714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83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Tenant · programme · edition · language</a:t>
            </a:r>
          </a:p>
          <a:p xmlns:a="http://schemas.openxmlformats.org/drawingml/2006/main">
            <a:pPr algn="ctr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age policy · roles · entitlement</a:t>
            </a:r>
          </a:p>
        </p:txBody>
      </p:sp>
      <p:cxnSp>
        <p:nvCxnSpPr>
          <p:cNvPr id="98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762500" y="20669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48500" y="20669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119438" y="1581150"/>
            <a:ext cx="309563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429000" y="1581150"/>
            <a:ext cx="2024063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429000" y="1581150"/>
            <a:ext cx="4357688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3429000" y="1581150"/>
            <a:ext cx="6691313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sp>
        <p:nvSpPr>
          <p:cNvPr id="23" name="experience-number">
            <a:extLst xmlns:a="http://schemas.openxmlformats.org/drawingml/2006/main">
              <a:ext uri="{FF2B5EF4-FFF2-40B4-BE49-F238E27FC236}">
                <a16:creationId xmlns:a16="http://schemas.microsoft.com/office/drawing/2014/main" id="{89F3A416-2B81-47CF-AB00-76DF9C38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46D"/>
                </a:solidFill>
              </a:defRPr>
            </a:pPr>
            <a:r>
              <a:rPr sz="1500" b="1">
                <a:solidFill>
                  <a:srgbClr val="2E746D"/>
                </a:solidFill>
              </a:rPr>
              <a:t>03</a:t>
            </a:r>
          </a:p>
        </p:txBody>
      </p:sp>
      <p:sp>
        <p:nvSpPr>
          <p:cNvPr id="24" name="experience-title">
            <a:extLst xmlns:a="http://schemas.openxmlformats.org/drawingml/2006/main">
              <a:ext uri="{FF2B5EF4-FFF2-40B4-BE49-F238E27FC236}">
                <a16:creationId xmlns:a16="http://schemas.microsoft.com/office/drawing/2014/main" id="{6E419C6A-7DFF-4CEB-881B-73A3D810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Experience</a:t>
            </a:r>
          </a:p>
          <a:p xmlns:a="http://schemas.openxmlformats.org/drawingml/2006/main">
            <a:pPr algn="l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applications</a:t>
            </a:r>
          </a:p>
        </p:txBody>
      </p:sp>
      <p:sp>
        <p:nvSpPr>
          <p:cNvPr id="25" name="experience-rule">
            <a:extLst xmlns:a="http://schemas.openxmlformats.org/drawingml/2006/main">
              <a:ext uri="{FF2B5EF4-FFF2-40B4-BE49-F238E27FC236}">
                <a16:creationId xmlns:a16="http://schemas.microsoft.com/office/drawing/2014/main" id="{A9AEEFA9-FA12-495F-ABE2-0B61FD95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1029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3C1"/>
            </a:solidFill>
            <a:prstDash val="solid"/>
          </a:ln>
        </p:spPr>
      </p:sp>
      <p:sp>
        <p:nvSpPr>
          <p:cNvPr id="26" name="experience-0">
            <a:extLst xmlns:a="http://schemas.openxmlformats.org/drawingml/2006/main">
              <a:ext uri="{FF2B5EF4-FFF2-40B4-BE49-F238E27FC236}">
                <a16:creationId xmlns:a16="http://schemas.microsoft.com/office/drawing/2014/main" id="{54458B5E-E495-4439-BAD0-12644714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908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2E74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64F"/>
                </a:solidFill>
              </a:defRPr>
            </a:pPr>
            <a:r>
              <a:rPr sz="1125" b="1">
                <a:solidFill>
                  <a:srgbClr val="18264F"/>
                </a:solidFill>
              </a:rPr>
              <a:t>Public discovery</a:t>
            </a:r>
          </a:p>
        </p:txBody>
      </p:sp>
      <p:sp>
        <p:nvSpPr>
          <p:cNvPr id="27" name="experience-1">
            <a:extLst xmlns:a="http://schemas.openxmlformats.org/drawingml/2006/main">
              <a:ext uri="{FF2B5EF4-FFF2-40B4-BE49-F238E27FC236}">
                <a16:creationId xmlns:a16="http://schemas.microsoft.com/office/drawing/2014/main" id="{7ACCFBFD-7600-4D41-9B21-AFAC2CA0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908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2E74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64F"/>
                </a:solidFill>
              </a:defRPr>
            </a:pPr>
            <a:r>
              <a:rPr sz="1125" b="1">
                <a:solidFill>
                  <a:srgbClr val="18264F"/>
                </a:solidFill>
              </a:rPr>
              <a:t>Learner</a:t>
            </a:r>
          </a:p>
        </p:txBody>
      </p:sp>
      <p:sp>
        <p:nvSpPr>
          <p:cNvPr id="28" name="experience-2">
            <a:extLst xmlns:a="http://schemas.openxmlformats.org/drawingml/2006/main">
              <a:ext uri="{FF2B5EF4-FFF2-40B4-BE49-F238E27FC236}">
                <a16:creationId xmlns:a16="http://schemas.microsoft.com/office/drawing/2014/main" id="{9E18761C-10A9-4EC9-B720-06D02A5B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2E74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64F"/>
                </a:solidFill>
              </a:defRPr>
            </a:pPr>
            <a:r>
              <a:rPr sz="1125" b="1">
                <a:solidFill>
                  <a:srgbClr val="18264F"/>
                </a:solidFill>
              </a:rPr>
              <a:t>Teacher</a:t>
            </a:r>
          </a:p>
        </p:txBody>
      </p:sp>
      <p:sp>
        <p:nvSpPr>
          <p:cNvPr id="29" name="experience-3">
            <a:extLst xmlns:a="http://schemas.openxmlformats.org/drawingml/2006/main">
              <a:ext uri="{FF2B5EF4-FFF2-40B4-BE49-F238E27FC236}">
                <a16:creationId xmlns:a16="http://schemas.microsoft.com/office/drawing/2014/main" id="{43D483E6-71CA-4D0A-8329-474ED30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5908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2E74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64F"/>
                </a:solidFill>
              </a:defRPr>
            </a:pPr>
            <a:r>
              <a:rPr sz="1125" b="1">
                <a:solidFill>
                  <a:srgbClr val="18264F"/>
                </a:solidFill>
              </a:rPr>
              <a:t>Content Studio</a:t>
            </a:r>
          </a:p>
        </p:txBody>
      </p:sp>
      <p:sp>
        <p:nvSpPr>
          <p:cNvPr id="30" name="experience-4">
            <a:extLst xmlns:a="http://schemas.openxmlformats.org/drawingml/2006/main">
              <a:ext uri="{FF2B5EF4-FFF2-40B4-BE49-F238E27FC236}">
                <a16:creationId xmlns:a16="http://schemas.microsoft.com/office/drawing/2014/main" id="{B26E3B0E-E323-4627-9ADC-448E7366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908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2E74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64F"/>
                </a:solidFill>
              </a:defRPr>
            </a:pPr>
            <a:r>
              <a:rPr sz="1125" b="1">
                <a:solidFill>
                  <a:srgbClr val="18264F"/>
                </a:solidFill>
              </a:rPr>
              <a:t>Tenant Admin</a:t>
            </a:r>
          </a:p>
        </p:txBody>
      </p:sp>
      <p:sp>
        <p:nvSpPr>
          <p:cNvPr id="31" name="experience-5">
            <a:extLst xmlns:a="http://schemas.openxmlformats.org/drawingml/2006/main">
              <a:ext uri="{FF2B5EF4-FFF2-40B4-BE49-F238E27FC236}">
                <a16:creationId xmlns:a16="http://schemas.microsoft.com/office/drawing/2014/main" id="{CC59767E-2AEF-4C57-900E-B6093FE1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5908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2E74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64F"/>
                </a:solidFill>
              </a:defRPr>
            </a:pPr>
            <a:r>
              <a:rPr sz="1125" b="1">
                <a:solidFill>
                  <a:srgbClr val="18264F"/>
                </a:solidFill>
              </a:rPr>
              <a:t>Platform Ops</a:t>
            </a:r>
          </a:p>
        </p:txBody>
      </p:sp>
      <p:cxnSp>
        <p:nvCxnSpPr>
          <p:cNvPr id="113" name=""/>
          <p:cNvCxnSpPr>
            <a:stCxn xmlns:a="http://schemas.openxmlformats.org/drawingml/2006/main" id="16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2786063" y="2362200"/>
            <a:ext cx="6405563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E746D"/>
            </a:solidFill>
            <a:prstDash val="solid"/>
            <a:headEnd type="triangle" w="sm" len="sm"/>
          </a:ln>
        </p:spPr>
      </p:cxnSp>
      <p:cxnSp>
        <p:nvCxnSpPr>
          <p:cNvPr id="114" name=""/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4319588" y="2362200"/>
            <a:ext cx="4872038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E746D"/>
            </a:solidFill>
            <a:prstDash val="solid"/>
            <a:headEnd type="triangle" w="sm" len="sm"/>
          </a:ln>
        </p:spPr>
      </p:cxnSp>
      <p:cxnSp>
        <p:nvCxnSpPr>
          <p:cNvPr id="115" name=""/>
          <p:cNvCxnSpPr>
            <a:stCxn xmlns:a="http://schemas.openxmlformats.org/drawingml/2006/main" id="16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5853113" y="2362200"/>
            <a:ext cx="3338513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E746D"/>
            </a:solidFill>
            <a:prstDash val="solid"/>
            <a:headEnd type="triangle" w="sm" len="sm"/>
          </a:ln>
        </p:spPr>
      </p:cxnSp>
      <p:cxnSp>
        <p:nvCxnSpPr>
          <p:cNvPr id="116" name=""/>
          <p:cNvCxnSpPr>
            <a:stCxn xmlns:a="http://schemas.openxmlformats.org/drawingml/2006/main" id="16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7386638" y="2362200"/>
            <a:ext cx="1804988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E746D"/>
            </a:solidFill>
            <a:prstDash val="solid"/>
            <a:headEnd type="triangle" w="sm" len="sm"/>
          </a:ln>
        </p:spPr>
      </p:cxnSp>
      <p:cxnSp>
        <p:nvCxnSpPr>
          <p:cNvPr id="117" name=""/>
          <p:cNvCxnSpPr>
            <a:stCxn xmlns:a="http://schemas.openxmlformats.org/drawingml/2006/main" id="16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8920163" y="2362200"/>
            <a:ext cx="271463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E746D"/>
            </a:solidFill>
            <a:prstDash val="solid"/>
            <a:headEnd type="triangle" w="sm" len="sm"/>
          </a:ln>
        </p:spPr>
      </p:cxnSp>
      <p:cxnSp>
        <p:nvCxnSpPr>
          <p:cNvPr id="118" name=""/>
          <p:cNvCxnSpPr>
            <a:stCxn xmlns:a="http://schemas.openxmlformats.org/drawingml/2006/main" id="16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9191625" y="2362200"/>
            <a:ext cx="1262063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E746D"/>
            </a:solidFill>
            <a:prstDash val="solid"/>
            <a:headEnd type="triangle" w="sm" len="sm"/>
          </a:ln>
        </p:spPr>
      </p:cxnSp>
      <p:sp>
        <p:nvSpPr>
          <p:cNvPr id="38" name="platform-number">
            <a:extLst xmlns:a="http://schemas.openxmlformats.org/drawingml/2006/main">
              <a:ext uri="{FF2B5EF4-FFF2-40B4-BE49-F238E27FC236}">
                <a16:creationId xmlns:a16="http://schemas.microsoft.com/office/drawing/2014/main" id="{6A9C3E5E-29F8-45DF-A3C6-79B25C8F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B78"/>
                </a:solidFill>
              </a:defRPr>
            </a:pPr>
            <a:r>
              <a:rPr sz="1500" b="1">
                <a:solidFill>
                  <a:srgbClr val="243B78"/>
                </a:solidFill>
              </a:rPr>
              <a:t>04</a:t>
            </a:r>
          </a:p>
        </p:txBody>
      </p:sp>
      <p:sp>
        <p:nvSpPr>
          <p:cNvPr id="39" name="platform-title">
            <a:extLst xmlns:a="http://schemas.openxmlformats.org/drawingml/2006/main">
              <a:ext uri="{FF2B5EF4-FFF2-40B4-BE49-F238E27FC236}">
                <a16:creationId xmlns:a16="http://schemas.microsoft.com/office/drawing/2014/main" id="{E82C2C54-A09A-4DF0-A23B-C30E9390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Core platform</a:t>
            </a:r>
          </a:p>
          <a:p xmlns:a="http://schemas.openxmlformats.org/drawingml/2006/main">
            <a:pPr algn="l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capabilities</a:t>
            </a:r>
          </a:p>
        </p:txBody>
      </p:sp>
      <p:sp>
        <p:nvSpPr>
          <p:cNvPr id="40" name="platform-rule">
            <a:extLst xmlns:a="http://schemas.openxmlformats.org/drawingml/2006/main">
              <a:ext uri="{FF2B5EF4-FFF2-40B4-BE49-F238E27FC236}">
                <a16:creationId xmlns:a16="http://schemas.microsoft.com/office/drawing/2014/main" id="{C4F84AFC-F3AD-41BD-B313-33AB6508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62400"/>
            <a:ext cx="11029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3C1"/>
            </a:solidFill>
            <a:prstDash val="solid"/>
          </a:ln>
        </p:spPr>
      </p:sp>
      <p:sp>
        <p:nvSpPr>
          <p:cNvPr id="41" name="platform-api">
            <a:extLst xmlns:a="http://schemas.openxmlformats.org/drawingml/2006/main">
              <a:ext uri="{FF2B5EF4-FFF2-40B4-BE49-F238E27FC236}">
                <a16:creationId xmlns:a16="http://schemas.microsoft.com/office/drawing/2014/main" id="{99F8FA07-C80D-4FD0-A6DE-50CF2F26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71850"/>
            <a:ext cx="8953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8264F"/>
          </a:solidFill>
          <a:ln xmlns:a="http://schemas.openxmlformats.org/drawingml/2006/main" w="9525">
            <a:solidFill>
              <a:srgbClr val="1826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Versioned platform API · authorisation · validation · idempotency · audit</a:t>
            </a:r>
          </a:p>
        </p:txBody>
      </p:sp>
      <p:sp>
        <p:nvSpPr>
          <p:cNvPr id="42" name="service-0">
            <a:extLst xmlns:a="http://schemas.openxmlformats.org/drawingml/2006/main">
              <a:ext uri="{FF2B5EF4-FFF2-40B4-BE49-F238E27FC236}">
                <a16:creationId xmlns:a16="http://schemas.microsoft.com/office/drawing/2014/main" id="{685ECE9D-42EC-41B2-BD4B-52479D35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8620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Identity &amp; consent</a:t>
            </a:r>
          </a:p>
        </p:txBody>
      </p:sp>
      <p:sp>
        <p:nvSpPr>
          <p:cNvPr id="43" name="service-1">
            <a:extLst xmlns:a="http://schemas.openxmlformats.org/drawingml/2006/main">
              <a:ext uri="{FF2B5EF4-FFF2-40B4-BE49-F238E27FC236}">
                <a16:creationId xmlns:a16="http://schemas.microsoft.com/office/drawing/2014/main" id="{D9BF31B3-6DEF-4A63-B528-52107413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8620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Tenant configuration</a:t>
            </a:r>
          </a:p>
        </p:txBody>
      </p:sp>
      <p:sp>
        <p:nvSpPr>
          <p:cNvPr id="44" name="service-2">
            <a:extLst xmlns:a="http://schemas.openxmlformats.org/drawingml/2006/main">
              <a:ext uri="{FF2B5EF4-FFF2-40B4-BE49-F238E27FC236}">
                <a16:creationId xmlns:a16="http://schemas.microsoft.com/office/drawing/2014/main" id="{996AB6BF-3446-4A81-B4A2-E9629086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8620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Content &amp; editions</a:t>
            </a:r>
          </a:p>
        </p:txBody>
      </p:sp>
      <p:sp>
        <p:nvSpPr>
          <p:cNvPr id="45" name="service-3">
            <a:extLst xmlns:a="http://schemas.openxmlformats.org/drawingml/2006/main">
              <a:ext uri="{FF2B5EF4-FFF2-40B4-BE49-F238E27FC236}">
                <a16:creationId xmlns:a16="http://schemas.microsoft.com/office/drawing/2014/main" id="{873D9552-02CF-4BCA-8415-70DC8789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8620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Learning &amp; sync</a:t>
            </a:r>
          </a:p>
        </p:txBody>
      </p:sp>
      <p:sp>
        <p:nvSpPr>
          <p:cNvPr id="46" name="service-4">
            <a:extLst xmlns:a="http://schemas.openxmlformats.org/drawingml/2006/main">
              <a:ext uri="{FF2B5EF4-FFF2-40B4-BE49-F238E27FC236}">
                <a16:creationId xmlns:a16="http://schemas.microsoft.com/office/drawing/2014/main" id="{35A454DE-88FD-45CD-A100-512DFDDC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0055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Assessment</a:t>
            </a:r>
          </a:p>
        </p:txBody>
      </p:sp>
      <p:sp>
        <p:nvSpPr>
          <p:cNvPr id="47" name="service-5">
            <a:extLst xmlns:a="http://schemas.openxmlformats.org/drawingml/2006/main">
              <a:ext uri="{FF2B5EF4-FFF2-40B4-BE49-F238E27FC236}">
                <a16:creationId xmlns:a16="http://schemas.microsoft.com/office/drawing/2014/main" id="{D7C7CEA8-3113-4BE5-8A09-C44FB997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0055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Credentials</a:t>
            </a:r>
          </a:p>
        </p:txBody>
      </p:sp>
      <p:sp>
        <p:nvSpPr>
          <p:cNvPr id="48" name="service-6">
            <a:extLst xmlns:a="http://schemas.openxmlformats.org/drawingml/2006/main">
              <a:ext uri="{FF2B5EF4-FFF2-40B4-BE49-F238E27FC236}">
                <a16:creationId xmlns:a16="http://schemas.microsoft.com/office/drawing/2014/main" id="{46B4BECF-D7E2-43D3-ABAC-76F5F502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0055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Notifications</a:t>
            </a:r>
          </a:p>
        </p:txBody>
      </p:sp>
      <p:sp>
        <p:nvSpPr>
          <p:cNvPr id="49" name="service-7">
            <a:extLst xmlns:a="http://schemas.openxmlformats.org/drawingml/2006/main">
              <a:ext uri="{FF2B5EF4-FFF2-40B4-BE49-F238E27FC236}">
                <a16:creationId xmlns:a16="http://schemas.microsoft.com/office/drawing/2014/main" id="{3932CBFE-951B-4D85-B681-6192D9CD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95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Reporting &amp; integration</a:t>
            </a:r>
          </a:p>
        </p:txBody>
      </p:sp>
      <p:cxnSp>
        <p:nvCxnSpPr>
          <p:cNvPr id="131" name=""/>
          <p:cNvCxnSpPr>
            <a:stCxn xmlns:a="http://schemas.openxmlformats.org/drawingml/2006/main" id="26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2786063" y="3124200"/>
            <a:ext cx="3786188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32" name=""/>
          <p:cNvCxnSpPr>
            <a:stCxn xmlns:a="http://schemas.openxmlformats.org/drawingml/2006/main" id="27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4319588" y="3124200"/>
            <a:ext cx="2252663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33" name=""/>
          <p:cNvCxnSpPr>
            <a:stCxn xmlns:a="http://schemas.openxmlformats.org/drawingml/2006/main" id="28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5853113" y="3124200"/>
            <a:ext cx="719138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34" name=""/>
          <p:cNvCxnSpPr>
            <a:stCxn xmlns:a="http://schemas.openxmlformats.org/drawingml/2006/main" id="29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6572250" y="3124200"/>
            <a:ext cx="814388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35" name=""/>
          <p:cNvCxnSpPr>
            <a:stCxn xmlns:a="http://schemas.openxmlformats.org/drawingml/2006/main" id="3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6572250" y="3124200"/>
            <a:ext cx="2347913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36" name=""/>
          <p:cNvCxnSpPr>
            <a:stCxn xmlns:a="http://schemas.openxmlformats.org/drawingml/2006/main" id="31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6572250" y="3124200"/>
            <a:ext cx="3881438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37" name=""/>
          <p:cNvCxnSpPr>
            <a:stCxn xmlns:a="http://schemas.openxmlformats.org/drawingml/2006/main" id="41" idx="2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3143250" y="3771900"/>
            <a:ext cx="3429000" cy="114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43B78"/>
            </a:solidFill>
            <a:prstDash val="solid"/>
            <a:headEnd type="triangle" w="sm" len="sm"/>
          </a:ln>
        </p:spPr>
      </p:cxnSp>
      <p:cxnSp>
        <p:nvCxnSpPr>
          <p:cNvPr id="138" name=""/>
          <p:cNvCxnSpPr>
            <a:stCxn xmlns:a="http://schemas.openxmlformats.org/drawingml/2006/main" id="41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 flipH="1">
            <a:off x="5410200" y="3771900"/>
            <a:ext cx="1162050" cy="114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43B78"/>
            </a:solidFill>
            <a:prstDash val="solid"/>
            <a:headEnd type="triangle" w="sm" len="sm"/>
          </a:ln>
        </p:spPr>
      </p:cxnSp>
      <p:cxnSp>
        <p:nvCxnSpPr>
          <p:cNvPr id="139" name=""/>
          <p:cNvCxnSpPr>
            <a:stCxn xmlns:a="http://schemas.openxmlformats.org/drawingml/2006/main" id="41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6572250" y="3771900"/>
            <a:ext cx="1104900" cy="114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43B78"/>
            </a:solidFill>
            <a:prstDash val="solid"/>
            <a:headEnd type="triangle" w="sm" len="sm"/>
          </a:ln>
        </p:spPr>
      </p:cxnSp>
      <p:cxnSp>
        <p:nvCxnSpPr>
          <p:cNvPr id="140" name=""/>
          <p:cNvCxnSpPr>
            <a:stCxn xmlns:a="http://schemas.openxmlformats.org/drawingml/2006/main" id="41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6572250" y="3771900"/>
            <a:ext cx="3371850" cy="114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43B78"/>
            </a:solidFill>
            <a:prstDash val="solid"/>
            <a:head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41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 flipH="1">
            <a:off x="3143250" y="3771900"/>
            <a:ext cx="3429000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43B78"/>
            </a:solidFill>
            <a:prstDash val="solid"/>
            <a:head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41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 flipH="1">
            <a:off x="5410200" y="3771900"/>
            <a:ext cx="1162050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43B78"/>
            </a:solidFill>
            <a:prstDash val="solid"/>
            <a:head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41" idx="2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6572250" y="3771900"/>
            <a:ext cx="1104900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43B78"/>
            </a:solidFill>
            <a:prstDash val="solid"/>
            <a:head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41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6572250" y="3771900"/>
            <a:ext cx="3371850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43B78"/>
            </a:solidFill>
            <a:prstDash val="solid"/>
            <a:headEnd type="triangle" w="sm" len="sm"/>
          </a:ln>
        </p:spPr>
      </p:cxnSp>
      <p:sp>
        <p:nvSpPr>
          <p:cNvPr id="64" name="foundation-number">
            <a:extLst xmlns:a="http://schemas.openxmlformats.org/drawingml/2006/main">
              <a:ext uri="{FF2B5EF4-FFF2-40B4-BE49-F238E27FC236}">
                <a16:creationId xmlns:a16="http://schemas.microsoft.com/office/drawing/2014/main" id="{56C25B7B-C9AC-4669-B821-F6B9452D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F4B70"/>
                </a:solidFill>
              </a:defRPr>
            </a:pPr>
            <a:r>
              <a:rPr sz="1500" b="1">
                <a:solidFill>
                  <a:srgbClr val="6F4B70"/>
                </a:solidFill>
              </a:rPr>
              <a:t>05</a:t>
            </a:r>
          </a:p>
        </p:txBody>
      </p:sp>
      <p:sp>
        <p:nvSpPr>
          <p:cNvPr id="65" name="foundation-title">
            <a:extLst xmlns:a="http://schemas.openxmlformats.org/drawingml/2006/main">
              <a:ext uri="{FF2B5EF4-FFF2-40B4-BE49-F238E27FC236}">
                <a16:creationId xmlns:a16="http://schemas.microsoft.com/office/drawing/2014/main" id="{F710CB89-00A7-496C-A096-07E45A9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Data, AI and</a:t>
            </a:r>
          </a:p>
          <a:p xmlns:a="http://schemas.openxmlformats.org/drawingml/2006/main">
            <a:pPr algn="l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operations</a:t>
            </a:r>
          </a:p>
        </p:txBody>
      </p:sp>
      <p:sp>
        <p:nvSpPr>
          <p:cNvPr id="66" name="foundation-rule">
            <a:extLst xmlns:a="http://schemas.openxmlformats.org/drawingml/2006/main">
              <a:ext uri="{FF2B5EF4-FFF2-40B4-BE49-F238E27FC236}">
                <a16:creationId xmlns:a16="http://schemas.microsoft.com/office/drawing/2014/main" id="{565814DF-81BA-4EEC-8F67-B792E570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029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D3C1"/>
            </a:solidFill>
            <a:prstDash val="solid"/>
          </a:ln>
        </p:spPr>
      </p:sp>
      <p:sp>
        <p:nvSpPr>
          <p:cNvPr id="67" name="foundation-0">
            <a:extLst xmlns:a="http://schemas.openxmlformats.org/drawingml/2006/main">
              <a:ext uri="{FF2B5EF4-FFF2-40B4-BE49-F238E27FC236}">
                <a16:creationId xmlns:a16="http://schemas.microsoft.com/office/drawing/2014/main" id="{6D46EBCA-88AF-4BD5-A860-1406405B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673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EAF4"/>
          </a:solidFill>
          <a:ln xmlns:a="http://schemas.openxmlformats.org/drawingml/2006/main" w="9525">
            <a:solidFill>
              <a:srgbClr val="6F4B7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Operational data</a:t>
            </a:r>
          </a:p>
        </p:txBody>
      </p:sp>
      <p:sp>
        <p:nvSpPr>
          <p:cNvPr id="68" name="foundation-1">
            <a:extLst xmlns:a="http://schemas.openxmlformats.org/drawingml/2006/main">
              <a:ext uri="{FF2B5EF4-FFF2-40B4-BE49-F238E27FC236}">
                <a16:creationId xmlns:a16="http://schemas.microsoft.com/office/drawing/2014/main" id="{5CD57B62-45C3-4A7F-9D61-4B5BC6EB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0673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4EAF4"/>
          </a:solidFill>
          <a:ln xmlns:a="http://schemas.openxmlformats.org/drawingml/2006/main" w="9525">
            <a:solidFill>
              <a:srgbClr val="6F4B7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Media and offline</a:t>
            </a:r>
          </a:p>
        </p:txBody>
      </p:sp>
      <p:sp>
        <p:nvSpPr>
          <p:cNvPr id="69" name="foundation-2">
            <a:extLst xmlns:a="http://schemas.openxmlformats.org/drawingml/2006/main">
              <a:ext uri="{FF2B5EF4-FFF2-40B4-BE49-F238E27FC236}">
                <a16:creationId xmlns:a16="http://schemas.microsoft.com/office/drawing/2014/main" id="{B2F6F28E-334C-464E-918D-6C887F9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673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2EB"/>
          </a:solidFill>
          <a:ln xmlns:a="http://schemas.openxmlformats.org/drawingml/2006/main" w="9525">
            <a:solidFill>
              <a:srgbClr val="3480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Search / vector</a:t>
            </a:r>
          </a:p>
        </p:txBody>
      </p:sp>
      <p:sp>
        <p:nvSpPr>
          <p:cNvPr id="70" name="foundation-3">
            <a:extLst xmlns:a="http://schemas.openxmlformats.org/drawingml/2006/main">
              <a:ext uri="{FF2B5EF4-FFF2-40B4-BE49-F238E27FC236}">
                <a16:creationId xmlns:a16="http://schemas.microsoft.com/office/drawing/2014/main" id="{99B3BF99-7FAE-47A7-B7C4-536698CE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0673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8F2EB"/>
          </a:solidFill>
          <a:ln xmlns:a="http://schemas.openxmlformats.org/drawingml/2006/main" w="9525">
            <a:solidFill>
              <a:srgbClr val="3480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AI gateway</a:t>
            </a:r>
          </a:p>
        </p:txBody>
      </p:sp>
      <p:sp>
        <p:nvSpPr>
          <p:cNvPr id="71" name="foundation-4">
            <a:extLst xmlns:a="http://schemas.openxmlformats.org/drawingml/2006/main">
              <a:ext uri="{FF2B5EF4-FFF2-40B4-BE49-F238E27FC236}">
                <a16:creationId xmlns:a16="http://schemas.microsoft.com/office/drawing/2014/main" id="{D127A305-92B1-4C94-881B-A494A76B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673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2E74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Events / analytics</a:t>
            </a:r>
          </a:p>
        </p:txBody>
      </p:sp>
      <p:sp>
        <p:nvSpPr>
          <p:cNvPr id="72" name="foundation-5">
            <a:extLst xmlns:a="http://schemas.openxmlformats.org/drawingml/2006/main">
              <a:ext uri="{FF2B5EF4-FFF2-40B4-BE49-F238E27FC236}">
                <a16:creationId xmlns:a16="http://schemas.microsoft.com/office/drawing/2014/main" id="{D45F4A5A-0E47-40FD-80EF-EDF42F79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067300"/>
            <a:ext cx="138112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64F"/>
                </a:solidFill>
              </a:defRPr>
            </a:pPr>
            <a:r>
              <a:rPr sz="1050" b="1">
                <a:solidFill>
                  <a:srgbClr val="18264F"/>
                </a:solidFill>
              </a:rPr>
              <a:t>Audit / observability</a:t>
            </a:r>
          </a:p>
        </p:txBody>
      </p:sp>
      <p:cxnSp>
        <p:nvCxnSpPr>
          <p:cNvPr id="154" name=""/>
          <p:cNvCxnSpPr>
            <a:stCxn xmlns:a="http://schemas.openxmlformats.org/drawingml/2006/main" id="42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 flipH="1">
            <a:off x="2786063" y="4286250"/>
            <a:ext cx="357188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55" name=""/>
          <p:cNvCxnSpPr>
            <a:stCxn xmlns:a="http://schemas.openxmlformats.org/drawingml/2006/main" id="43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 flipH="1">
            <a:off x="4319588" y="4286250"/>
            <a:ext cx="109061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56" name=""/>
          <p:cNvCxnSpPr>
            <a:stCxn xmlns:a="http://schemas.openxmlformats.org/drawingml/2006/main" id="44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 flipH="1">
            <a:off x="5853113" y="4286250"/>
            <a:ext cx="1824038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57" name=""/>
          <p:cNvCxnSpPr>
            <a:stCxn xmlns:a="http://schemas.openxmlformats.org/drawingml/2006/main" id="45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 flipH="1">
            <a:off x="7386638" y="4286250"/>
            <a:ext cx="255746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58" name=""/>
          <p:cNvCxnSpPr>
            <a:stCxn xmlns:a="http://schemas.openxmlformats.org/drawingml/2006/main" id="46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3143250" y="4800600"/>
            <a:ext cx="5776913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59" name=""/>
          <p:cNvCxnSpPr>
            <a:stCxn xmlns:a="http://schemas.openxmlformats.org/drawingml/2006/main" id="47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5410200" y="4800600"/>
            <a:ext cx="5043488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60" name=""/>
          <p:cNvCxnSpPr>
            <a:stCxn xmlns:a="http://schemas.openxmlformats.org/drawingml/2006/main" id="48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 flipH="1">
            <a:off x="2786063" y="4800600"/>
            <a:ext cx="4891088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cxnSp>
        <p:nvCxnSpPr>
          <p:cNvPr id="161" name=""/>
          <p:cNvCxnSpPr>
            <a:stCxn xmlns:a="http://schemas.openxmlformats.org/drawingml/2006/main" id="49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 flipH="1">
            <a:off x="4319588" y="4800600"/>
            <a:ext cx="5624513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DDD3C1"/>
            </a:solidFill>
            <a:prstDash val="solid"/>
            <a:headEnd type="triangle" w="sm" len="sm"/>
          </a:ln>
        </p:spPr>
      </p:cxnSp>
      <p:sp>
        <p:nvSpPr>
          <p:cNvPr id="81" name="architecture-footer">
            <a:extLst xmlns:a="http://schemas.openxmlformats.org/drawingml/2006/main">
              <a:ext uri="{FF2B5EF4-FFF2-40B4-BE49-F238E27FC236}">
                <a16:creationId xmlns:a16="http://schemas.microsoft.com/office/drawing/2014/main" id="{9A47D67A-5004-4F70-B748-6620961A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055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64F"/>
                </a:solidFill>
              </a:defRPr>
            </a:pPr>
            <a:r>
              <a:rPr sz="1200" b="1">
                <a:solidFill>
                  <a:srgbClr val="18264F"/>
                </a:solidFill>
              </a:rPr>
              <a:t>Cross-cutting controls: tenant isolation · privacy · safeguarding · encryption · CI/CD · backup and recovery</a:t>
            </a:r>
          </a:p>
        </p:txBody>
      </p:sp>
    </p:spTree>
    <p:extLst>
      <p:ext uri="{BB962C8B-B14F-4D97-AF65-F5344CB8AC3E}">
        <p14:creationId xmlns:p14="http://schemas.microsoft.com/office/powerpoint/2010/main" val="6835593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3">
            <a:extLst xmlns:a="http://schemas.openxmlformats.org/drawingml/2006/main">
              <a:ext uri="{FF2B5EF4-FFF2-40B4-BE49-F238E27FC236}">
                <a16:creationId xmlns:a16="http://schemas.microsoft.com/office/drawing/2014/main" id="{CCCF1297-D4D8-4DF1-A186-A96995F4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832E"/>
                </a:solidFill>
              </a:defRPr>
            </a:pPr>
            <a:r>
              <a:rPr sz="975" b="1">
                <a:solidFill>
                  <a:srgbClr val="D9832E"/>
                </a:solidFill>
              </a:rPr>
              <a:t>PLATFORM DETAIL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1BC2EE1-A8E7-4AFC-8C16-8A01B3D7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64F"/>
                </a:solidFill>
              </a:defRPr>
            </a:pPr>
            <a:r>
              <a:rPr sz="2625" b="1">
                <a:solidFill>
                  <a:srgbClr val="18264F"/>
                </a:solidFill>
              </a:rPr>
              <a:t>Shared platform, configurable doctrine and programmes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AAF2B8D6-008B-40B1-BA1B-A3822A93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7282"/>
                </a:solidFill>
              </a:defRPr>
            </a:pPr>
            <a:r>
              <a:rPr sz="975" b="1">
                <a:solidFill>
                  <a:srgbClr val="6D7282"/>
                </a:solidFill>
              </a:rPr>
              <a:t>03</a:t>
            </a:r>
          </a:p>
        </p:txBody>
      </p:sp>
      <p:sp>
        <p:nvSpPr>
          <p:cNvPr id="4" name="domain-context">
            <a:extLst xmlns:a="http://schemas.openxmlformats.org/drawingml/2006/main">
              <a:ext uri="{FF2B5EF4-FFF2-40B4-BE49-F238E27FC236}">
                <a16:creationId xmlns:a16="http://schemas.microsoft.com/office/drawing/2014/main" id="{ECD8A85C-4B49-4950-ABC1-F4B20904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8264F"/>
          </a:solidFill>
          <a:ln xmlns:a="http://schemas.openxmlformats.org/drawingml/2006/main" w="9525">
            <a:solidFill>
              <a:srgbClr val="1826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Trusted request context: tenant · organisational unit · programme · cohort · edition · language · age policy · role scopes</a:t>
            </a:r>
          </a:p>
        </p:txBody>
      </p:sp>
      <p:sp>
        <p:nvSpPr>
          <p:cNvPr id="5" name="experience-heading">
            <a:extLst xmlns:a="http://schemas.openxmlformats.org/drawingml/2006/main">
              <a:ext uri="{FF2B5EF4-FFF2-40B4-BE49-F238E27FC236}">
                <a16:creationId xmlns:a16="http://schemas.microsoft.com/office/drawing/2014/main" id="{A7106821-4DDF-4F07-959A-6D40006D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832E"/>
                </a:solidFill>
              </a:defRPr>
            </a:pPr>
            <a:r>
              <a:rPr sz="1200" b="1">
                <a:solidFill>
                  <a:srgbClr val="D9832E"/>
                </a:solidFill>
              </a:rPr>
              <a:t>EXPERIENCE</a:t>
            </a:r>
          </a:p>
        </p:txBody>
      </p:sp>
      <p:sp>
        <p:nvSpPr>
          <p:cNvPr id="6" name="platform-heading">
            <a:extLst xmlns:a="http://schemas.openxmlformats.org/drawingml/2006/main">
              <a:ext uri="{FF2B5EF4-FFF2-40B4-BE49-F238E27FC236}">
                <a16:creationId xmlns:a16="http://schemas.microsoft.com/office/drawing/2014/main" id="{FFBCE856-A123-4D65-B7A6-C1380903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47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B78"/>
                </a:solidFill>
              </a:defRPr>
            </a:pPr>
            <a:r>
              <a:rPr sz="1200" b="1">
                <a:solidFill>
                  <a:srgbClr val="243B78"/>
                </a:solidFill>
              </a:rPr>
              <a:t>DOMAIN PLATFORM</a:t>
            </a:r>
          </a:p>
        </p:txBody>
      </p:sp>
      <p:sp>
        <p:nvSpPr>
          <p:cNvPr id="7" name="foundation-heading">
            <a:extLst xmlns:a="http://schemas.openxmlformats.org/drawingml/2006/main">
              <a:ext uri="{FF2B5EF4-FFF2-40B4-BE49-F238E27FC236}">
                <a16:creationId xmlns:a16="http://schemas.microsoft.com/office/drawing/2014/main" id="{4764B4DF-CF59-4F6E-871F-86A07BAF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6D"/>
                </a:solidFill>
              </a:defRPr>
            </a:pPr>
            <a:r>
              <a:rPr sz="1200" b="1">
                <a:solidFill>
                  <a:srgbClr val="2E746D"/>
                </a:solidFill>
              </a:rPr>
              <a:t>DATA AND INTEGRATION</a:t>
            </a:r>
          </a:p>
        </p:txBody>
      </p:sp>
      <p:sp>
        <p:nvSpPr>
          <p:cNvPr id="8" name="experience-zone">
            <a:extLst xmlns:a="http://schemas.openxmlformats.org/drawingml/2006/main">
              <a:ext uri="{FF2B5EF4-FFF2-40B4-BE49-F238E27FC236}">
                <a16:creationId xmlns:a16="http://schemas.microsoft.com/office/drawing/2014/main" id="{EF236244-EC68-4FF7-A230-F456EB34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571750" cy="3714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83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64F"/>
                </a:solidFill>
              </a:defRPr>
            </a:pPr>
            <a:r>
              <a:rPr sz="1425" b="1">
                <a:solidFill>
                  <a:srgbClr val="18264F"/>
                </a:solidFill>
              </a:rPr>
              <a:t>Public discovery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8264F"/>
                </a:solidFill>
              </a:defRPr>
            </a:pPr>
            <a:r>
              <a:rPr sz="1425" b="1">
                <a:solidFill>
                  <a:srgbClr val="18264F"/>
                </a:solidFill>
              </a:rPr>
              <a:t>Learner workspace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8264F"/>
                </a:solidFill>
              </a:defRPr>
            </a:pPr>
            <a:r>
              <a:rPr sz="1425" b="1">
                <a:solidFill>
                  <a:srgbClr val="18264F"/>
                </a:solidFill>
              </a:rPr>
              <a:t>Teacher workspace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8264F"/>
                </a:solidFill>
              </a:defRPr>
            </a:pPr>
            <a:r>
              <a:rPr sz="1425" b="1">
                <a:solidFill>
                  <a:srgbClr val="18264F"/>
                </a:solidFill>
              </a:rPr>
              <a:t>Content Studio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8264F"/>
                </a:solidFill>
              </a:defRPr>
            </a:pPr>
            <a:r>
              <a:rPr sz="1425" b="1">
                <a:solidFill>
                  <a:srgbClr val="18264F"/>
                </a:solidFill>
              </a:rPr>
              <a:t>Tenant administration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1">
                <a:solidFill>
                  <a:srgbClr val="18264F"/>
                </a:solidFill>
              </a:defRPr>
            </a:pPr>
            <a:r>
              <a:rPr sz="1425" b="1">
                <a:solidFill>
                  <a:srgbClr val="18264F"/>
                </a:solidFill>
              </a:rPr>
              <a:t>Platform operations</a:t>
            </a:r>
          </a:p>
        </p:txBody>
      </p:sp>
      <p:sp>
        <p:nvSpPr>
          <p:cNvPr id="9" name="domain-zone">
            <a:extLst xmlns:a="http://schemas.openxmlformats.org/drawingml/2006/main">
              <a:ext uri="{FF2B5EF4-FFF2-40B4-BE49-F238E27FC236}">
                <a16:creationId xmlns:a16="http://schemas.microsoft.com/office/drawing/2014/main" id="{139B0090-8C75-435E-8DE3-394C83A7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0750"/>
            <a:ext cx="38290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64F"/>
                </a:solidFill>
              </a:defRPr>
            </a:pPr>
            <a:r>
              <a:rPr sz="1350" b="1">
                <a:solidFill>
                  <a:srgbClr val="18264F"/>
                </a:solidFill>
              </a:rPr>
              <a:t>Identity, consent and safeguarding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8264F"/>
                </a:solidFill>
              </a:defRPr>
            </a:pPr>
            <a:r>
              <a:rPr sz="1350" b="1">
                <a:solidFill>
                  <a:srgbClr val="18264F"/>
                </a:solidFill>
              </a:rPr>
              <a:t>Tenant and programme configuration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8264F"/>
                </a:solidFill>
              </a:defRPr>
            </a:pPr>
            <a:r>
              <a:rPr sz="1350" b="1">
                <a:solidFill>
                  <a:srgbClr val="18264F"/>
                </a:solidFill>
              </a:rPr>
              <a:t>Catalogue and discovery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8264F"/>
                </a:solidFill>
              </a:defRPr>
            </a:pPr>
            <a:r>
              <a:rPr sz="1350" b="1">
                <a:solidFill>
                  <a:srgbClr val="18264F"/>
                </a:solidFill>
              </a:rPr>
              <a:t>Scripture, edition and content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8264F"/>
                </a:solidFill>
              </a:defRPr>
            </a:pPr>
            <a:r>
              <a:rPr sz="1350" b="1">
                <a:solidFill>
                  <a:srgbClr val="18264F"/>
                </a:solidFill>
              </a:rPr>
              <a:t>Scholarly publishing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8264F"/>
                </a:solidFill>
              </a:defRPr>
            </a:pPr>
            <a:r>
              <a:rPr sz="1350" b="1">
                <a:solidFill>
                  <a:srgbClr val="18264F"/>
                </a:solidFill>
              </a:rPr>
              <a:t>Learning, progress and offline sync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1">
                <a:solidFill>
                  <a:srgbClr val="18264F"/>
                </a:solidFill>
              </a:defRPr>
            </a:pPr>
            <a:r>
              <a:rPr sz="1350" b="1">
                <a:solidFill>
                  <a:srgbClr val="18264F"/>
                </a:solidFill>
              </a:rPr>
              <a:t>Assessment, credentials and reporting</a:t>
            </a:r>
          </a:p>
        </p:txBody>
      </p:sp>
      <p:sp>
        <p:nvSpPr>
          <p:cNvPr id="10" name="data-zone">
            <a:extLst xmlns:a="http://schemas.openxmlformats.org/drawingml/2006/main">
              <a:ext uri="{FF2B5EF4-FFF2-40B4-BE49-F238E27FC236}">
                <a16:creationId xmlns:a16="http://schemas.microsoft.com/office/drawing/2014/main" id="{27FE911B-7ED1-4A62-8D6F-52D7258D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086100" cy="37147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2E74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Relational operational store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Encrypted object storage and CDN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Tenant-partitioned search / vector indexes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Cache, event bus and job queue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Analytics store and audit log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OIDC · SAML · LTI · OneRoster · QTI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Email, push, media and approved AI providers</a:t>
            </a:r>
          </a:p>
        </p:txBody>
      </p:sp>
      <p:cxnSp>
        <p:nvCxnSpPr>
          <p:cNvPr id="27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971675" y="1600200"/>
            <a:ext cx="412432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4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5800725" y="1600200"/>
            <a:ext cx="295275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1600200"/>
            <a:ext cx="3867150" cy="5905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57550" y="40481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3B78"/>
            </a:solidFill>
            <a:prstDash val="solid"/>
            <a:head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715250" y="4048125"/>
            <a:ext cx="704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E746D"/>
            </a:solidFill>
            <a:prstDash val="solid"/>
            <a:headEnd type="triangle" w="sm" len="sm"/>
          </a:ln>
        </p:spPr>
      </p:cxnSp>
      <p:sp>
        <p:nvSpPr>
          <p:cNvPr id="16" name="platform-note">
            <a:extLst xmlns:a="http://schemas.openxmlformats.org/drawingml/2006/main">
              <a:ext uri="{FF2B5EF4-FFF2-40B4-BE49-F238E27FC236}">
                <a16:creationId xmlns:a16="http://schemas.microsoft.com/office/drawing/2014/main" id="{B374A8D6-91A6-46B6-BED2-0E8B2000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115050"/>
            <a:ext cx="994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Initial implementation: modular monolith with explicit domain boundaries. Extract services only when scale, isolation or ownership requires it.</a:t>
            </a:r>
          </a:p>
        </p:txBody>
      </p:sp>
    </p:spTree>
    <p:extLst>
      <p:ext uri="{BB962C8B-B14F-4D97-AF65-F5344CB8AC3E}">
        <p14:creationId xmlns:p14="http://schemas.microsoft.com/office/powerpoint/2010/main" val="1001116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4">
            <a:extLst xmlns:a="http://schemas.openxmlformats.org/drawingml/2006/main">
              <a:ext uri="{FF2B5EF4-FFF2-40B4-BE49-F238E27FC236}">
                <a16:creationId xmlns:a16="http://schemas.microsoft.com/office/drawing/2014/main" id="{C5C2C78A-C6CF-4A89-9EE2-8A5EAB8C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832E"/>
                </a:solidFill>
              </a:defRPr>
            </a:pPr>
            <a:r>
              <a:rPr sz="975" b="1">
                <a:solidFill>
                  <a:srgbClr val="D9832E"/>
                </a:solidFill>
              </a:rPr>
              <a:t>AI GOVERNANCE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BDCEF61-8EE1-4F0F-BB88-F6487E82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64F"/>
                </a:solidFill>
              </a:defRPr>
            </a:pPr>
            <a:r>
              <a:rPr sz="2625" b="1">
                <a:solidFill>
                  <a:srgbClr val="18264F"/>
                </a:solidFill>
              </a:rPr>
              <a:t>Governed AI answers are filtered, grounded and cited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7EABEDCB-BA67-4B88-87B6-D7B369C9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5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7282"/>
                </a:solidFill>
              </a:defRPr>
            </a:pPr>
            <a:r>
              <a:rPr sz="975" b="1">
                <a:solidFill>
                  <a:srgbClr val="6D7282"/>
                </a:solidFill>
              </a:rPr>
              <a:t>04</a:t>
            </a:r>
          </a:p>
        </p:txBody>
      </p:sp>
      <p:sp>
        <p:nvSpPr>
          <p:cNvPr id="4" name="ai-rule">
            <a:extLst xmlns:a="http://schemas.openxmlformats.org/drawingml/2006/main">
              <a:ext uri="{FF2B5EF4-FFF2-40B4-BE49-F238E27FC236}">
                <a16:creationId xmlns:a16="http://schemas.microsoft.com/office/drawing/2014/main" id="{D812B55C-10DE-4732-A8C8-E9DE1978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64F"/>
                </a:solidFill>
              </a:defRPr>
            </a:pPr>
            <a:r>
              <a:rPr sz="1575" b="1">
                <a:solidFill>
                  <a:srgbClr val="18264F"/>
                </a:solidFill>
              </a:rPr>
              <a:t>No model is authoritative for scripture, translation, commentary or assessment.</a:t>
            </a:r>
          </a:p>
        </p:txBody>
      </p:sp>
      <p:sp>
        <p:nvSpPr>
          <p:cNvPr id="5" name="ai-stage-0">
            <a:extLst xmlns:a="http://schemas.openxmlformats.org/drawingml/2006/main">
              <a:ext uri="{FF2B5EF4-FFF2-40B4-BE49-F238E27FC236}">
                <a16:creationId xmlns:a16="http://schemas.microsoft.com/office/drawing/2014/main" id="{710EEEDE-5FB6-473F-9CFD-9C9D79CB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DF1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Learner or</a:t>
            </a:r>
          </a:p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teacher</a:t>
            </a:r>
          </a:p>
        </p:txBody>
      </p:sp>
      <p:sp>
        <p:nvSpPr>
          <p:cNvPr id="6" name="ai-stage-1">
            <a:extLst xmlns:a="http://schemas.openxmlformats.org/drawingml/2006/main">
              <a:ext uri="{FF2B5EF4-FFF2-40B4-BE49-F238E27FC236}">
                <a16:creationId xmlns:a16="http://schemas.microsoft.com/office/drawing/2014/main" id="{C7740531-EB22-489D-B74D-99544E32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526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83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AI gateway</a:t>
            </a:r>
          </a:p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and tenant policy</a:t>
            </a:r>
          </a:p>
        </p:txBody>
      </p:sp>
      <p:sp>
        <p:nvSpPr>
          <p:cNvPr id="7" name="ai-stage-2">
            <a:extLst xmlns:a="http://schemas.openxmlformats.org/drawingml/2006/main">
              <a:ext uri="{FF2B5EF4-FFF2-40B4-BE49-F238E27FC236}">
                <a16:creationId xmlns:a16="http://schemas.microsoft.com/office/drawing/2014/main" id="{8827B25B-CCD6-4E64-B395-94CE1878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526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983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Safety and</a:t>
            </a:r>
          </a:p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intent checks</a:t>
            </a:r>
          </a:p>
        </p:txBody>
      </p:sp>
      <p:sp>
        <p:nvSpPr>
          <p:cNvPr id="8" name="ai-stage-3">
            <a:extLst xmlns:a="http://schemas.openxmlformats.org/drawingml/2006/main">
              <a:ext uri="{FF2B5EF4-FFF2-40B4-BE49-F238E27FC236}">
                <a16:creationId xmlns:a16="http://schemas.microsoft.com/office/drawing/2014/main" id="{5BF23CD6-B517-463E-94AD-456555DD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526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2EB"/>
          </a:solidFill>
          <a:ln xmlns:a="http://schemas.openxmlformats.org/drawingml/2006/main" w="9525">
            <a:solidFill>
              <a:srgbClr val="3480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Tenant-scoped</a:t>
            </a:r>
          </a:p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retrieval</a:t>
            </a:r>
          </a:p>
        </p:txBody>
      </p:sp>
      <p:sp>
        <p:nvSpPr>
          <p:cNvPr id="9" name="ai-stage-4">
            <a:extLst xmlns:a="http://schemas.openxmlformats.org/drawingml/2006/main">
              <a:ext uri="{FF2B5EF4-FFF2-40B4-BE49-F238E27FC236}">
                <a16:creationId xmlns:a16="http://schemas.microsoft.com/office/drawing/2014/main" id="{8790079A-1B4B-4C36-8C59-45819F21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526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2EB"/>
          </a:solidFill>
          <a:ln xmlns:a="http://schemas.openxmlformats.org/drawingml/2006/main" w="9525">
            <a:solidFill>
              <a:srgbClr val="34805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Rights and</a:t>
            </a:r>
          </a:p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publication filter</a:t>
            </a:r>
          </a:p>
        </p:txBody>
      </p:sp>
      <p:sp>
        <p:nvSpPr>
          <p:cNvPr id="10" name="ai-stage-5">
            <a:extLst xmlns:a="http://schemas.openxmlformats.org/drawingml/2006/main">
              <a:ext uri="{FF2B5EF4-FFF2-40B4-BE49-F238E27FC236}">
                <a16:creationId xmlns:a16="http://schemas.microsoft.com/office/drawing/2014/main" id="{9EBBBB34-3F2A-4578-8448-0FB64897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AF4"/>
          </a:solidFill>
          <a:ln xmlns:a="http://schemas.openxmlformats.org/drawingml/2006/main" w="9525">
            <a:solidFill>
              <a:srgbClr val="6F4B7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Provider</a:t>
            </a:r>
          </a:p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adapter</a:t>
            </a:r>
          </a:p>
        </p:txBody>
      </p:sp>
      <p:sp>
        <p:nvSpPr>
          <p:cNvPr id="11" name="ai-stage-6">
            <a:extLst xmlns:a="http://schemas.openxmlformats.org/drawingml/2006/main">
              <a:ext uri="{FF2B5EF4-FFF2-40B4-BE49-F238E27FC236}">
                <a16:creationId xmlns:a16="http://schemas.microsoft.com/office/drawing/2014/main" id="{F8BD26B9-B0A2-4440-B24F-888095EA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152650"/>
            <a:ext cx="14097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4F2"/>
          </a:solidFill>
          <a:ln xmlns:a="http://schemas.openxmlformats.org/drawingml/2006/main" w="9525">
            <a:solidFill>
              <a:srgbClr val="2E74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Citation and</a:t>
            </a:r>
          </a:p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claim verification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0500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6235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1970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87705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3440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191750" y="26098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68C3B"/>
            </a:solidFill>
            <a:prstDash val="solid"/>
            <a:headEnd type="triangle" w="sm" len="sm"/>
          </a:ln>
        </p:spPr>
      </p:cxnSp>
      <p:sp>
        <p:nvSpPr>
          <p:cNvPr id="18" name="verified-answer">
            <a:extLst xmlns:a="http://schemas.openxmlformats.org/drawingml/2006/main">
              <a:ext uri="{FF2B5EF4-FFF2-40B4-BE49-F238E27FC236}">
                <a16:creationId xmlns:a16="http://schemas.microsoft.com/office/drawing/2014/main" id="{6EA9F60D-07BB-453C-95DA-28231E85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00450"/>
            <a:ext cx="30670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264F"/>
          </a:solidFill>
          <a:ln xmlns:a="http://schemas.openxmlformats.org/drawingml/2006/main" w="9525">
            <a:solidFill>
              <a:srgbClr val="18264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Grounded answer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+ sources, limitations and support reference</a:t>
            </a:r>
          </a:p>
        </p:txBody>
      </p:sp>
      <p:cxnSp>
        <p:nvCxnSpPr>
          <p:cNvPr id="45" name=""/>
          <p:cNvCxnSpPr>
            <a:stCxn xmlns:a="http://schemas.openxmlformats.org/drawingml/2006/main" id="11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9686925" y="3067050"/>
            <a:ext cx="1457325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E746D"/>
            </a:solidFill>
            <a:prstDash val="solid"/>
            <a:headEnd type="triangle" w="sm" len="sm"/>
          </a:ln>
        </p:spPr>
      </p:cxnSp>
      <p:sp>
        <p:nvSpPr>
          <p:cNvPr id="20" name="human-escalation">
            <a:extLst xmlns:a="http://schemas.openxmlformats.org/drawingml/2006/main">
              <a:ext uri="{FF2B5EF4-FFF2-40B4-BE49-F238E27FC236}">
                <a16:creationId xmlns:a16="http://schemas.microsoft.com/office/drawing/2014/main" id="{84D33A84-3372-4A3A-BDB7-C8820E86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2952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983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Human escalation</a:t>
            </a:r>
          </a:p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teacher · scholar · safeguarding · support</a:t>
            </a:r>
          </a:p>
        </p:txBody>
      </p:sp>
      <p:sp>
        <p:nvSpPr>
          <p:cNvPr id="21" name="ai-controls">
            <a:extLst xmlns:a="http://schemas.openxmlformats.org/drawingml/2006/main">
              <a:ext uri="{FF2B5EF4-FFF2-40B4-BE49-F238E27FC236}">
                <a16:creationId xmlns:a16="http://schemas.microsoft.com/office/drawing/2014/main" id="{DDA88A2D-953C-4A90-A027-A86116AF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62500"/>
            <a:ext cx="31432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43B7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Operational controls</a:t>
            </a:r>
          </a:p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feature flags · evaluation · rate limits · provider rollback · kill switch</a:t>
            </a:r>
          </a:p>
        </p:txBody>
      </p:sp>
      <p:sp>
        <p:nvSpPr>
          <p:cNvPr id="22" name="ai-audit">
            <a:extLst xmlns:a="http://schemas.openxmlformats.org/drawingml/2006/main">
              <a:ext uri="{FF2B5EF4-FFF2-40B4-BE49-F238E27FC236}">
                <a16:creationId xmlns:a16="http://schemas.microsoft.com/office/drawing/2014/main" id="{E4BEDBBB-7B7E-4CBE-B142-E6175C43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28575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2E746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Safe audit evidence</a:t>
            </a:r>
          </a:p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no private reflections · no licensed payloads in telemetry</a:t>
            </a:r>
          </a:p>
        </p:txBody>
      </p:sp>
      <p:cxnSp>
        <p:nvCxnSpPr>
          <p:cNvPr id="49" name=""/>
          <p:cNvCxnSpPr>
            <a:stCxn xmlns:a="http://schemas.openxmlformats.org/drawingml/2006/main" id="7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2428875" y="3067050"/>
            <a:ext cx="2085975" cy="1695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832E"/>
            </a:solidFill>
            <a:prstDash val="dash"/>
            <a:head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2857500" y="3067050"/>
            <a:ext cx="3305175" cy="1695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3B78"/>
            </a:solidFill>
            <a:prstDash val="dash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686925" y="4324350"/>
            <a:ext cx="161925" cy="438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E746D"/>
            </a:solidFill>
            <a:prstDash val="dash"/>
            <a:headEnd type="triangle" w="sm" len="sm"/>
          </a:ln>
        </p:spPr>
      </p:cxnSp>
      <p:sp>
        <p:nvSpPr>
          <p:cNvPr id="26" name="ai-footer">
            <a:extLst xmlns:a="http://schemas.openxmlformats.org/drawingml/2006/main">
              <a:ext uri="{FF2B5EF4-FFF2-40B4-BE49-F238E27FC236}">
                <a16:creationId xmlns:a16="http://schemas.microsoft.com/office/drawing/2014/main" id="{4148FAA9-8B30-43DC-B6A9-16DE8023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626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64F"/>
                </a:solidFill>
              </a:defRPr>
            </a:pPr>
            <a:r>
              <a:rPr sz="1275" b="1">
                <a:solidFill>
                  <a:srgbClr val="18264F"/>
                </a:solidFill>
              </a:rPr>
              <a:t>Private reflections and child data are excluded by default. Unsupported questions are refused or escalated rather than completed from model memory.</a:t>
            </a:r>
          </a:p>
        </p:txBody>
      </p:sp>
    </p:spTree>
    <p:extLst>
      <p:ext uri="{BB962C8B-B14F-4D97-AF65-F5344CB8AC3E}">
        <p14:creationId xmlns:p14="http://schemas.microsoft.com/office/powerpoint/2010/main" val="1161568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2026-09-01T02:10:32.2360000Z</dcterms:created>
  <dcterms:modified xsi:type="dcterms:W3CDTF">2026-09-01T02:10:32.2360000Z</dcterms:modified>
</coreProperties>
</file>